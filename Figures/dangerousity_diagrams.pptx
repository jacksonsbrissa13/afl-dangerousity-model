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BB2D3-3360-8D4F-8FFB-F63B358FF656}" v="23" dt="2026-09-03T04:49:13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4658"/>
  </p:normalViewPr>
  <p:slideViewPr>
    <p:cSldViewPr snapToGrid="0">
      <p:cViewPr varScale="1">
        <p:scale>
          <a:sx n="105" d="100"/>
          <a:sy n="105" d="100"/>
        </p:scale>
        <p:origin x="2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SON SBRISSA" userId="d4cbf6ff-12e6-4b91-a3b5-9b2132ef0ddc" providerId="ADAL" clId="{7DAA4688-D720-5D93-9342-F959A5A95E8B}"/>
    <pc:docChg chg="undo custSel addSld delSld modSld">
      <pc:chgData name="JACKSON SBRISSA" userId="d4cbf6ff-12e6-4b91-a3b5-9b2132ef0ddc" providerId="ADAL" clId="{7DAA4688-D720-5D93-9342-F959A5A95E8B}" dt="2026-09-03T04:49:13.533" v="57" actId="255"/>
      <pc:docMkLst>
        <pc:docMk/>
      </pc:docMkLst>
      <pc:sldChg chg="modSp mod">
        <pc:chgData name="JACKSON SBRISSA" userId="d4cbf6ff-12e6-4b91-a3b5-9b2132ef0ddc" providerId="ADAL" clId="{7DAA4688-D720-5D93-9342-F959A5A95E8B}" dt="2026-09-03T04:49:13.533" v="57" actId="255"/>
        <pc:sldMkLst>
          <pc:docMk/>
          <pc:sldMk cId="189534287" sldId="256"/>
        </pc:sldMkLst>
        <pc:spChg chg="mod">
          <ac:chgData name="JACKSON SBRISSA" userId="d4cbf6ff-12e6-4b91-a3b5-9b2132ef0ddc" providerId="ADAL" clId="{7DAA4688-D720-5D93-9342-F959A5A95E8B}" dt="2026-09-03T00:43:42.022" v="40" actId="207"/>
          <ac:spMkLst>
            <pc:docMk/>
            <pc:sldMk cId="189534287" sldId="256"/>
            <ac:spMk id="7" creationId="{3E0D5627-15ED-B2E9-0796-34FE1F41929D}"/>
          </ac:spMkLst>
        </pc:spChg>
        <pc:spChg chg="mod">
          <ac:chgData name="JACKSON SBRISSA" userId="d4cbf6ff-12e6-4b91-a3b5-9b2132ef0ddc" providerId="ADAL" clId="{7DAA4688-D720-5D93-9342-F959A5A95E8B}" dt="2026-09-03T00:33:06.619" v="27" actId="1076"/>
          <ac:spMkLst>
            <pc:docMk/>
            <pc:sldMk cId="189534287" sldId="256"/>
            <ac:spMk id="10" creationId="{E3B1CC5E-38B7-C55A-4199-FFDBDF731BD5}"/>
          </ac:spMkLst>
        </pc:spChg>
        <pc:spChg chg="mod">
          <ac:chgData name="JACKSON SBRISSA" userId="d4cbf6ff-12e6-4b91-a3b5-9b2132ef0ddc" providerId="ADAL" clId="{7DAA4688-D720-5D93-9342-F959A5A95E8B}" dt="2026-09-03T00:39:44.672" v="32" actId="255"/>
          <ac:spMkLst>
            <pc:docMk/>
            <pc:sldMk cId="189534287" sldId="256"/>
            <ac:spMk id="30" creationId="{E4E581CA-6CBB-D28E-613F-A9A317BADD31}"/>
          </ac:spMkLst>
        </pc:spChg>
        <pc:spChg chg="mod">
          <ac:chgData name="JACKSON SBRISSA" userId="d4cbf6ff-12e6-4b91-a3b5-9b2132ef0ddc" providerId="ADAL" clId="{7DAA4688-D720-5D93-9342-F959A5A95E8B}" dt="2026-09-03T00:44:44.085" v="43" actId="255"/>
          <ac:spMkLst>
            <pc:docMk/>
            <pc:sldMk cId="189534287" sldId="256"/>
            <ac:spMk id="31" creationId="{29041934-5AB4-30BF-F69D-BAFB2B6DB66C}"/>
          </ac:spMkLst>
        </pc:spChg>
        <pc:spChg chg="mod">
          <ac:chgData name="JACKSON SBRISSA" userId="d4cbf6ff-12e6-4b91-a3b5-9b2132ef0ddc" providerId="ADAL" clId="{7DAA4688-D720-5D93-9342-F959A5A95E8B}" dt="2026-09-03T00:31:52.214" v="17" actId="403"/>
          <ac:spMkLst>
            <pc:docMk/>
            <pc:sldMk cId="189534287" sldId="256"/>
            <ac:spMk id="32" creationId="{2F097178-F3B9-902D-C419-21244998A905}"/>
          </ac:spMkLst>
        </pc:spChg>
        <pc:spChg chg="mod">
          <ac:chgData name="JACKSON SBRISSA" userId="d4cbf6ff-12e6-4b91-a3b5-9b2132ef0ddc" providerId="ADAL" clId="{7DAA4688-D720-5D93-9342-F959A5A95E8B}" dt="2026-09-03T00:43:08.814" v="36" actId="20577"/>
          <ac:spMkLst>
            <pc:docMk/>
            <pc:sldMk cId="189534287" sldId="256"/>
            <ac:spMk id="33" creationId="{528F1E26-5D02-819E-86C4-B011369C3F13}"/>
          </ac:spMkLst>
        </pc:spChg>
        <pc:spChg chg="mod">
          <ac:chgData name="JACKSON SBRISSA" userId="d4cbf6ff-12e6-4b91-a3b5-9b2132ef0ddc" providerId="ADAL" clId="{7DAA4688-D720-5D93-9342-F959A5A95E8B}" dt="2026-09-03T04:49:13.533" v="57" actId="255"/>
          <ac:spMkLst>
            <pc:docMk/>
            <pc:sldMk cId="189534287" sldId="256"/>
            <ac:spMk id="45" creationId="{13E734AF-9AB1-0E26-945F-D67C15A3C531}"/>
          </ac:spMkLst>
        </pc:spChg>
        <pc:cxnChg chg="mod">
          <ac:chgData name="JACKSON SBRISSA" userId="d4cbf6ff-12e6-4b91-a3b5-9b2132ef0ddc" providerId="ADAL" clId="{7DAA4688-D720-5D93-9342-F959A5A95E8B}" dt="2026-09-03T00:33:06.619" v="27" actId="1076"/>
          <ac:cxnSpMkLst>
            <pc:docMk/>
            <pc:sldMk cId="189534287" sldId="256"/>
            <ac:cxnSpMk id="22" creationId="{A9082629-6E6A-5AFB-1B42-4AE874FB09B4}"/>
          </ac:cxnSpMkLst>
        </pc:cxnChg>
        <pc:cxnChg chg="mod">
          <ac:chgData name="JACKSON SBRISSA" userId="d4cbf6ff-12e6-4b91-a3b5-9b2132ef0ddc" providerId="ADAL" clId="{7DAA4688-D720-5D93-9342-F959A5A95E8B}" dt="2026-09-03T04:48:44.209" v="51" actId="1076"/>
          <ac:cxnSpMkLst>
            <pc:docMk/>
            <pc:sldMk cId="189534287" sldId="256"/>
            <ac:cxnSpMk id="47" creationId="{C10B7F67-9626-4341-70CB-D0B39EDEBC55}"/>
          </ac:cxnSpMkLst>
        </pc:cxnChg>
      </pc:sldChg>
      <pc:sldChg chg="delSp new del mod">
        <pc:chgData name="JACKSON SBRISSA" userId="d4cbf6ff-12e6-4b91-a3b5-9b2132ef0ddc" providerId="ADAL" clId="{7DAA4688-D720-5D93-9342-F959A5A95E8B}" dt="2026-09-03T02:57:07.111" v="49" actId="2696"/>
        <pc:sldMkLst>
          <pc:docMk/>
          <pc:sldMk cId="2921592329" sldId="257"/>
        </pc:sldMkLst>
        <pc:spChg chg="del">
          <ac:chgData name="JACKSON SBRISSA" userId="d4cbf6ff-12e6-4b91-a3b5-9b2132ef0ddc" providerId="ADAL" clId="{7DAA4688-D720-5D93-9342-F959A5A95E8B}" dt="2026-09-03T00:56:40.749" v="45" actId="478"/>
          <ac:spMkLst>
            <pc:docMk/>
            <pc:sldMk cId="2921592329" sldId="257"/>
            <ac:spMk id="2" creationId="{BB44B0C1-D223-9247-779E-CE03ACAE59CE}"/>
          </ac:spMkLst>
        </pc:spChg>
        <pc:spChg chg="del">
          <ac:chgData name="JACKSON SBRISSA" userId="d4cbf6ff-12e6-4b91-a3b5-9b2132ef0ddc" providerId="ADAL" clId="{7DAA4688-D720-5D93-9342-F959A5A95E8B}" dt="2026-09-03T00:56:42.189" v="46" actId="478"/>
          <ac:spMkLst>
            <pc:docMk/>
            <pc:sldMk cId="2921592329" sldId="257"/>
            <ac:spMk id="3" creationId="{E8FEBE34-B6CD-F9A8-CC74-9371521ABEAA}"/>
          </ac:spMkLst>
        </pc:spChg>
      </pc:sldChg>
      <pc:sldChg chg="add setBg">
        <pc:chgData name="JACKSON SBRISSA" userId="d4cbf6ff-12e6-4b91-a3b5-9b2132ef0ddc" providerId="ADAL" clId="{7DAA4688-D720-5D93-9342-F959A5A95E8B}" dt="2026-09-03T02:56:57.231" v="47"/>
        <pc:sldMkLst>
          <pc:docMk/>
          <pc:sldMk cId="0" sldId="258"/>
        </pc:sldMkLst>
      </pc:sldChg>
      <pc:sldChg chg="add setBg">
        <pc:chgData name="JACKSON SBRISSA" userId="d4cbf6ff-12e6-4b91-a3b5-9b2132ef0ddc" providerId="ADAL" clId="{7DAA4688-D720-5D93-9342-F959A5A95E8B}" dt="2026-09-03T02:57:02.464" v="48"/>
        <pc:sldMkLst>
          <pc:docMk/>
          <pc:sldMk cId="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8DA13-CFDB-AB41-A93C-281016126F7D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46221-47EC-5543-9C4A-C3025F2A9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0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46221-47EC-5543-9C4A-C3025F2A9C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7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Coach-facing view. No data on this slide by design.
Distance ranges are derived from the model itself for a set shot directly in front with no pressure: DA = 0.75 at 23.6 m, 0.55 at 37.6 m, 0.35 at 53.9 m, 0.10 at 68.9 m.
Band boundaries are set-shot conversion rates (Anderson et al., 2018), not equal intervals.
Bands are half-open and upper-inclusive, so they partition the output range exhaustively on any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view. Same bands as the coach slide, with the distribution of this dataset underneath.
Counts: 37 very low, 43 low, 11 moderate, 4 high, 7 very high.
The model output submitted for Task 2 is the continuous score. Banding is a presentation layer only; binning before submission would cost resolution in the correlation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309-0982-BDE1-67FD-6467CC499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8741E-69BA-51AE-CA0F-B05C3CDA0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EA12-24CA-84B1-4180-187ED085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A2B9D-EB7A-09F8-589C-C4CEE94C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14B67-5472-7375-A321-BF0941D8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766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D4F4-45DC-0FA9-C2E6-A3CDA01C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E15CA-0D3C-E54A-E414-021CC0F16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E0955-5B6E-8C92-77E6-6A5544A8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4332E-A123-DF10-04B8-5B41D604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A17CD-25B8-25CD-C7F7-70FAA9EB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89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10E3-DC90-4CB2-D9D8-3D9D7D47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D33B0-D38A-694D-8F92-5BD4A85F9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C65F4-8654-F799-A35A-EDBC2663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F9BA8-3979-9B99-C3C3-DA662C6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16E50-0F08-2292-1F96-26EACA78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104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B821-3612-78F3-ED9C-6FC741CE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D5330-421C-574E-ACD7-11BE047B5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EA3EA-0DF8-1BA8-8A82-21C6A3E86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82E91-7E05-506B-7716-B8C365FA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7744B-DDE5-57F9-1119-C82CB91F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87235-1C41-69C1-B1EB-AA623C4C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82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1758-EA81-DE63-60AB-39AC00EC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78EE1-5A7E-AC44-7B22-15445486D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84F0C-3977-3910-32CC-4DF63F1CE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1E8AB-172C-A29D-492F-1D95B87AF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C38CF-E3B0-ADFE-593D-B3B177FD4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DBCAA9-2174-A7BE-262C-CEE608A5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718F7-3ADB-FA32-9CB9-A6C23097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FCFDB-0AB7-006A-34CD-AAE51E41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44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FF1B-E386-D000-07FB-285CD1DD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7D32C-3EC8-2A33-F3A7-D73AC8A88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F2C9F-2A2F-DE54-C744-327E283F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E06CF-A1AE-25EB-F096-1E24D063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671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049ED-F99D-3C11-CE82-31C1C40A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71C40-B017-C786-C675-99D14725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7070C-D6A8-9920-6E4B-2202C908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55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89A8-9753-3E9F-EC3D-9B5ED279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4E1F9-5DAB-CCDA-B7CE-A47219962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9C0B5-9EC2-DA51-9B79-403A7FF65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57638-01DD-B720-14D9-5486FD2AD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7D440-474A-C64D-EE86-FE622F41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2CEBF-87C5-E001-DEA5-C3FC7866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486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3DFA-31D0-B058-7470-7CBB24D1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63E32-E143-B7A3-4082-02B88990A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D62A8-4D6C-046B-1817-21B26F8B9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653A6-125B-3247-1B13-563C3C1D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4D688-4141-C4C2-6F0B-3C3747EE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3A3AC-F163-7168-FFAD-13861C42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12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4DF3-54D3-81EC-4203-EBB851A2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19807-1668-46A6-04E2-D6D9B7F6F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D2C4-53B1-121F-AC11-2FE5A19E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D63BE-09E8-FE40-C263-B0DBA454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C8C4-F7DF-2FC3-DCCC-4ADD7D4E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272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6509E-EA92-4287-702A-837E0ADC6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E3349-6699-CE19-453F-63BD316D2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C430D-80B5-A971-17CE-66CB0C015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7A17-0DF1-12A5-45F1-E5DB4006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09AB-AE3E-21DB-226C-D474F76F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183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68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3F-4E82-ED89-52CF-7EE611EF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0683A-CDAA-3FB2-9646-8437CDFC1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BE90-E2A5-069F-DF06-BF29D0032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1869E-80D1-4B76-AEFE-2D94D2226857}" type="datetimeFigureOut">
              <a:rPr lang="en-AU" smtClean="0"/>
              <a:t>3/9/2026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434C-7DE7-C94D-E8F4-0FA98A971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13C2E-F669-2E26-F34D-430FB9DAE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FE813-5FD6-4B65-A1C4-2A023A5AE2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425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4F3C40-8074-937F-221A-265C7D394D2B}"/>
              </a:ext>
            </a:extLst>
          </p:cNvPr>
          <p:cNvSpPr/>
          <p:nvPr/>
        </p:nvSpPr>
        <p:spPr>
          <a:xfrm>
            <a:off x="554180" y="484909"/>
            <a:ext cx="2447637" cy="93749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Carrier Position</a:t>
            </a:r>
          </a:p>
          <a:p>
            <a:pPr algn="ctr"/>
            <a:r>
              <a:rPr lang="en-AU" dirty="0">
                <a:solidFill>
                  <a:schemeClr val="tx1"/>
                </a:solidFill>
              </a:rPr>
              <a:t>x, 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D5627-15ED-B2E9-0796-34FE1F41929D}"/>
              </a:ext>
            </a:extLst>
          </p:cNvPr>
          <p:cNvSpPr/>
          <p:nvPr/>
        </p:nvSpPr>
        <p:spPr>
          <a:xfrm>
            <a:off x="3375889" y="484908"/>
            <a:ext cx="2447637" cy="93749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Defender Geometry</a:t>
            </a:r>
          </a:p>
          <a:p>
            <a:pPr algn="ctr"/>
            <a:r>
              <a:rPr lang="en-AU" dirty="0">
                <a:solidFill>
                  <a:schemeClr val="tx1"/>
                </a:solidFill>
              </a:rPr>
              <a:t>dᵢ, </a:t>
            </a:r>
            <a:r>
              <a:rPr lang="en-AU" dirty="0" err="1">
                <a:solidFill>
                  <a:schemeClr val="tx1"/>
                </a:solidFill>
              </a:rPr>
              <a:t>Δv</a:t>
            </a:r>
            <a:r>
              <a:rPr lang="en-AU" dirty="0">
                <a:solidFill>
                  <a:schemeClr val="tx1"/>
                </a:solidFill>
              </a:rPr>
              <a:t>ᵢ, αᵢ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B1CC5E-38B7-C55A-4199-FFDBDF731BD5}"/>
              </a:ext>
            </a:extLst>
          </p:cNvPr>
          <p:cNvSpPr/>
          <p:nvPr/>
        </p:nvSpPr>
        <p:spPr>
          <a:xfrm>
            <a:off x="6197598" y="484908"/>
            <a:ext cx="2447637" cy="937491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Forward 50 counts</a:t>
            </a:r>
          </a:p>
          <a:p>
            <a:pPr algn="ctr"/>
            <a:r>
              <a:rPr lang="en-AU" dirty="0">
                <a:solidFill>
                  <a:schemeClr val="tx1"/>
                </a:solidFill>
              </a:rPr>
              <a:t>n_D, n_A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4BBD77-E124-E696-F6B8-CB77FD0E328E}"/>
              </a:ext>
            </a:extLst>
          </p:cNvPr>
          <p:cNvSpPr/>
          <p:nvPr/>
        </p:nvSpPr>
        <p:spPr>
          <a:xfrm>
            <a:off x="9019307" y="484908"/>
            <a:ext cx="2447637" cy="93749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Play Phase</a:t>
            </a:r>
          </a:p>
          <a:p>
            <a:pPr algn="ctr"/>
            <a:r>
              <a:rPr lang="en-AU" dirty="0">
                <a:solidFill>
                  <a:schemeClr val="tx1"/>
                </a:solidFill>
              </a:rPr>
              <a:t>SET/ GENERAL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584077-EE02-DCCE-4C56-A39316A9984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777999" y="1422400"/>
            <a:ext cx="0" cy="969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88DFB1-B408-42BF-DF6B-8E1A5C30CBD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599708" y="1422399"/>
            <a:ext cx="0" cy="969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082629-6E6A-5AFB-1B42-4AE874FB09B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421417" y="1422399"/>
            <a:ext cx="0" cy="969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2DC69C-8EC4-0417-B2BF-98F4227B496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0243125" y="1422398"/>
            <a:ext cx="1" cy="969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E581CA-6CBB-D28E-613F-A9A317BADD31}"/>
              </a:ext>
            </a:extLst>
          </p:cNvPr>
          <p:cNvSpPr/>
          <p:nvPr/>
        </p:nvSpPr>
        <p:spPr>
          <a:xfrm>
            <a:off x="554180" y="2491511"/>
            <a:ext cx="2447637" cy="93749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Location (LO)</a:t>
            </a:r>
          </a:p>
          <a:p>
            <a:pPr algn="ctr"/>
            <a:endParaRPr lang="en-AU" b="1" dirty="0">
              <a:solidFill>
                <a:schemeClr val="tx1"/>
              </a:solidFill>
            </a:endParaRPr>
          </a:p>
          <a:p>
            <a:pPr algn="ctr"/>
            <a:r>
              <a:rPr lang="en-AU" sz="1200" b="1" dirty="0">
                <a:solidFill>
                  <a:schemeClr val="tx1"/>
                </a:solidFill>
              </a:rPr>
              <a:t>Logistic(</a:t>
            </a:r>
            <a:r>
              <a:rPr lang="en-AU" sz="1400" b="1" dirty="0">
                <a:solidFill>
                  <a:schemeClr val="tx1"/>
                </a:solidFill>
              </a:rPr>
              <a:t>σ</a:t>
            </a:r>
            <a:r>
              <a:rPr lang="en-AU" sz="1200" b="1" dirty="0">
                <a:solidFill>
                  <a:schemeClr val="tx1"/>
                </a:solidFill>
              </a:rPr>
              <a:t>(a + b ln d)) x A(angle) x R(reach)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9041934-5AB4-30BF-F69D-BAFB2B6DB66C}"/>
              </a:ext>
            </a:extLst>
          </p:cNvPr>
          <p:cNvSpPr/>
          <p:nvPr/>
        </p:nvSpPr>
        <p:spPr>
          <a:xfrm>
            <a:off x="3375889" y="2491510"/>
            <a:ext cx="2447637" cy="9374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>
                <a:solidFill>
                  <a:prstClr val="black"/>
                </a:solidFill>
                <a:latin typeface="Aptos" panose="02110004020202020204"/>
              </a:rPr>
              <a:t>Pressure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(PR)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– exp(- </a:t>
            </a:r>
            <a:r>
              <a:rPr lang="en-AU" sz="1200" b="1" dirty="0">
                <a:solidFill>
                  <a:schemeClr val="tx1"/>
                </a:solidFill>
              </a:rPr>
              <a:t>k₃</a:t>
            </a:r>
            <a:r>
              <a:rPr lang="en-AU" sz="1200" dirty="0">
                <a:solidFill>
                  <a:schemeClr val="tx1"/>
                </a:solidFill>
              </a:rPr>
              <a:t> 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</a:t>
            </a:r>
            <a:r>
              <a:rPr lang="en-AU" sz="1400" dirty="0">
                <a:solidFill>
                  <a:schemeClr val="tx1"/>
                </a:solidFill>
              </a:rPr>
              <a:t>Σ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PR_i)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prstClr val="black"/>
                </a:solidFill>
                <a:latin typeface="Aptos" panose="02110004020202020204"/>
              </a:rPr>
              <a:t>Zeroed on SET</a:t>
            </a:r>
            <a:endParaRPr kumimoji="0" lang="en-A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F097178-F3B9-902D-C419-21244998A905}"/>
              </a:ext>
            </a:extLst>
          </p:cNvPr>
          <p:cNvSpPr/>
          <p:nvPr/>
        </p:nvSpPr>
        <p:spPr>
          <a:xfrm>
            <a:off x="6197598" y="2491509"/>
            <a:ext cx="2447637" cy="937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>
                <a:solidFill>
                  <a:prstClr val="black"/>
                </a:solidFill>
                <a:latin typeface="Aptos" panose="02110004020202020204"/>
              </a:rPr>
              <a:t>Structure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(ST)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(0.5 + atan(k5 M)/</a:t>
            </a:r>
            <a:r>
              <a:rPr lang="en-AU" sz="1400" dirty="0">
                <a:solidFill>
                  <a:schemeClr val="tx1"/>
                </a:solidFill>
              </a:rPr>
              <a:t>π</a:t>
            </a: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prstClr val="black"/>
                </a:solidFill>
                <a:latin typeface="Aptos" panose="02110004020202020204"/>
              </a:rPr>
              <a:t>X occupancy</a:t>
            </a:r>
            <a:endParaRPr kumimoji="0" lang="en-A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8F1E26-5D02-819E-86C4-B011369C3F13}"/>
              </a:ext>
            </a:extLst>
          </p:cNvPr>
          <p:cNvSpPr/>
          <p:nvPr/>
        </p:nvSpPr>
        <p:spPr>
          <a:xfrm>
            <a:off x="9019307" y="2491510"/>
            <a:ext cx="2447637" cy="9374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>
                <a:solidFill>
                  <a:prstClr val="black"/>
                </a:solidFill>
                <a:latin typeface="Aptos" panose="02110004020202020204"/>
              </a:rPr>
              <a:t>Shot Intent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lang="en-AU" b="1" dirty="0">
                <a:solidFill>
                  <a:prstClr val="black"/>
                </a:solidFill>
                <a:latin typeface="Aptos" panose="02110004020202020204"/>
              </a:rPr>
              <a:t>SI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R(reach) x </a:t>
            </a:r>
            <a:r>
              <a:rPr lang="en-AU" sz="1200" b="1" dirty="0">
                <a:solidFill>
                  <a:schemeClr val="tx1"/>
                </a:solidFill>
              </a:rPr>
              <a:t>cos θ </a:t>
            </a:r>
            <a:r>
              <a:rPr lang="en-AU" sz="1200" b="1" dirty="0">
                <a:solidFill>
                  <a:prstClr val="black"/>
                </a:solidFill>
                <a:latin typeface="Aptos" panose="02110004020202020204"/>
              </a:rPr>
              <a:t>= R(reach) on SET</a:t>
            </a:r>
            <a:endParaRPr kumimoji="0" lang="en-A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8DEFE8-E7FE-D869-7F95-BE71E7345D83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777999" y="3429002"/>
            <a:ext cx="0" cy="576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2FE59B-2C91-6BC4-695D-38CE729F75BD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4599708" y="3429001"/>
            <a:ext cx="0" cy="576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016149-681C-374E-613B-BE31DEBAC03A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7421417" y="3429000"/>
            <a:ext cx="0" cy="603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3DF1AE5-9F66-67E0-999F-8603AA43AFF9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0243125" y="3429000"/>
            <a:ext cx="1" cy="603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3E734AF-9AB1-0E26-945F-D67C15A3C531}"/>
                  </a:ext>
                </a:extLst>
              </p:cNvPr>
              <p:cNvSpPr/>
              <p:nvPr/>
            </p:nvSpPr>
            <p:spPr>
              <a:xfrm>
                <a:off x="1627634" y="4133088"/>
                <a:ext cx="8814812" cy="91440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800" b="1" i="1" smtClean="0">
                        <a:solidFill>
                          <a:schemeClr val="tx1"/>
                        </a:solidFill>
                      </a:rPr>
                      <m:t>𝑫𝑨</m:t>
                    </m:r>
                    <m:r>
                      <a:rPr lang="en-AU" sz="2800" b="1" i="1" smtClean="0">
                        <a:solidFill>
                          <a:schemeClr val="tx1"/>
                        </a:solidFill>
                      </a:rPr>
                      <m:t>=</m:t>
                    </m:r>
                    <m:r>
                      <a:rPr lang="en-AU" sz="2800" b="1" i="1" smtClean="0">
                        <a:solidFill>
                          <a:schemeClr val="tx1"/>
                        </a:solidFill>
                      </a:rPr>
                      <m:t>𝑳𝑶</m:t>
                    </m:r>
                    <m:r>
                      <a:rPr lang="en-AU" sz="2800" b="1" i="1" smtClean="0">
                        <a:solidFill>
                          <a:schemeClr val="tx1"/>
                        </a:solidFill>
                      </a:rPr>
                      <m:t>×</m:t>
                    </m:r>
                    <m:d>
                      <m:dPr>
                        <m:ctrlPr>
                          <a:rPr lang="en-AU" sz="2800" b="1" i="1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r>
                          <a:rPr lang="en-AU" sz="2800" b="1" i="1">
                            <a:solidFill>
                              <a:schemeClr val="tx1"/>
                            </a:solidFill>
                          </a:rPr>
                          <m:t>𝟏</m:t>
                        </m:r>
                        <m:r>
                          <a:rPr lang="en-AU" sz="2800" b="1" i="1">
                            <a:solidFill>
                              <a:schemeClr val="tx1"/>
                            </a:solidFill>
                          </a:rPr>
                          <m:t>−</m:t>
                        </m:r>
                        <m:f>
                          <m:fPr>
                            <m:ctrlPr>
                              <a:rPr lang="en-AU" sz="2800" b="1" i="1">
                                <a:solidFill>
                                  <a:schemeClr val="tx1"/>
                                </a:solidFill>
                              </a:rPr>
                            </m:ctrlPr>
                          </m:fPr>
                          <m:num>
                            <m:r>
                              <a:rPr lang="en-AU" sz="2800" b="1" i="1">
                                <a:solidFill>
                                  <a:schemeClr val="tx1"/>
                                </a:solidFill>
                              </a:rPr>
                              <m:t>𝑷𝑹</m:t>
                            </m:r>
                            <m:r>
                              <a:rPr lang="en-AU" sz="2800" b="1" i="1">
                                <a:solidFill>
                                  <a:schemeClr val="tx1"/>
                                </a:solidFill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</m:ctrlPr>
                              </m:dPr>
                              <m:e>
                                <m: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  <m:t>𝟏</m:t>
                                </m:r>
                                <m: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  <m:t>−</m:t>
                                </m:r>
                                <m: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  <m:t>𝑺𝑰</m:t>
                                </m:r>
                              </m:e>
                            </m:d>
                            <m:r>
                              <a:rPr lang="en-AU" sz="2800" b="1" i="1">
                                <a:solidFill>
                                  <a:schemeClr val="tx1"/>
                                </a:solidFill>
                              </a:rPr>
                              <m:t>⋅</m:t>
                            </m:r>
                            <m:r>
                              <a:rPr lang="en-AU" sz="2800" b="1" i="1">
                                <a:solidFill>
                                  <a:schemeClr val="tx1"/>
                                </a:solidFill>
                              </a:rPr>
                              <m:t>𝑺𝑻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AU" sz="2800" b="1" i="1">
                                    <a:solidFill>
                                      <a:schemeClr val="tx1"/>
                                    </a:solidFill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AU" sz="2800" b="1" dirty="0">
                    <a:solidFill>
                      <a:schemeClr val="tx1"/>
                    </a:solidFill>
                    <a:effectLst/>
                  </a:rPr>
                  <a:t> </a:t>
                </a:r>
                <a:endParaRPr lang="en-AU" sz="2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3E734AF-9AB1-0E26-945F-D67C15A3C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634" y="4133088"/>
                <a:ext cx="8814812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10B7F67-9626-4341-70CB-D0B39EDEBC55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6035040" y="504748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F0CF2F2-9702-AC7D-5795-E87BC9DAB353}"/>
              </a:ext>
            </a:extLst>
          </p:cNvPr>
          <p:cNvSpPr/>
          <p:nvPr/>
        </p:nvSpPr>
        <p:spPr>
          <a:xfrm>
            <a:off x="4236721" y="5624576"/>
            <a:ext cx="3596637" cy="51511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ysClr val="windowText" lastClr="000000"/>
                </a:solidFill>
              </a:rPr>
              <a:t>Dangerousity (DA)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0186540-D33C-DA53-0171-8B11DDBA72AD}"/>
              </a:ext>
            </a:extLst>
          </p:cNvPr>
          <p:cNvCxnSpPr>
            <a:stCxn id="33" idx="1"/>
            <a:endCxn id="32" idx="3"/>
          </p:cNvCxnSpPr>
          <p:nvPr/>
        </p:nvCxnSpPr>
        <p:spPr>
          <a:xfrm flipH="1">
            <a:off x="8645235" y="2960255"/>
            <a:ext cx="374072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4633B74-18A9-4948-63C2-2A784E6E89FB}"/>
              </a:ext>
            </a:extLst>
          </p:cNvPr>
          <p:cNvSpPr txBox="1"/>
          <p:nvPr/>
        </p:nvSpPr>
        <p:spPr>
          <a:xfrm>
            <a:off x="8228356" y="3466858"/>
            <a:ext cx="12078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dirty="0">
                <a:solidFill>
                  <a:schemeClr val="accent5"/>
                </a:solidFill>
              </a:rPr>
              <a:t>More shot intent = less ST</a:t>
            </a:r>
          </a:p>
        </p:txBody>
      </p:sp>
    </p:spTree>
    <p:extLst>
      <p:ext uri="{BB962C8B-B14F-4D97-AF65-F5344CB8AC3E}">
        <p14:creationId xmlns:p14="http://schemas.microsoft.com/office/powerpoint/2010/main" val="18953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Dangerousity: what the number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Dangerousity estimates the chance a position ends in a goal. A score of 0.72 means roughly seven goals in every ten plays that look like this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157984" cy="3822192"/>
          </a:xfrm>
          <a:prstGeom prst="roundRect">
            <a:avLst>
              <a:gd name="adj" fmla="val 2119"/>
            </a:avLst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86968" y="2615184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12648" y="2724912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scoring opportunity"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58444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SITUATION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78561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69 m, or outnumbered and several disposals from a shot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" y="4773168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2648" y="48463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level at which the difference changes a decision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52344" y="1572768"/>
            <a:ext cx="2157984" cy="3822192"/>
          </a:xfrm>
          <a:prstGeom prst="roundRect">
            <a:avLst>
              <a:gd name="adj" fmla="val 2119"/>
            </a:avLst>
          </a:prstGeom>
          <a:solidFill>
            <a:srgbClr val="0097A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752344" y="17373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2752344" y="21945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– 35%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36392" y="2615184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862072" y="2724912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chance only if something breaks"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62072" y="358444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SITUATION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862072" y="378561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54 - 69 m out, or inside 50 but wide and under pressure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36392" y="4773168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862072" y="48463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conversion rate of the longest set shots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01768" y="1572768"/>
            <a:ext cx="2157984" cy="3822192"/>
          </a:xfrm>
          <a:prstGeom prst="roundRect">
            <a:avLst>
              <a:gd name="adj" fmla="val 2119"/>
            </a:avLst>
          </a:prstGeom>
          <a:solidFill>
            <a:srgbClr val="F9A82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01768" y="17373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5001768" y="21945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35% – 55%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385816" y="2615184"/>
            <a:ext cx="1389888" cy="0"/>
          </a:xfrm>
          <a:prstGeom prst="line">
            <a:avLst/>
          </a:prstGeom>
          <a:noFill/>
          <a:ln w="12700">
            <a:solidFill>
              <a:srgbClr val="2121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111496" y="2724912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genuine chance, not a likely goal"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358444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2121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SITUATION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111496" y="378561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38 - 54 m out, or closer under real pressure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85816" y="4773168"/>
            <a:ext cx="1389888" cy="0"/>
          </a:xfrm>
          <a:prstGeom prst="line">
            <a:avLst/>
          </a:prstGeom>
          <a:noFill/>
          <a:ln w="12700">
            <a:solidFill>
              <a:srgbClr val="2121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11496" y="48463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12121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shots beyond 50 m convert at 35.5%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51192" y="1572768"/>
            <a:ext cx="2157984" cy="3822192"/>
          </a:xfrm>
          <a:prstGeom prst="roundRect">
            <a:avLst>
              <a:gd name="adj" fmla="val 2119"/>
            </a:avLst>
          </a:prstGeom>
          <a:solidFill>
            <a:srgbClr val="EF6C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251192" y="17373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300" dirty="0"/>
          </a:p>
        </p:txBody>
      </p:sp>
      <p:sp>
        <p:nvSpPr>
          <p:cNvPr id="33" name="Text 31"/>
          <p:cNvSpPr txBox="1"/>
          <p:nvPr/>
        </p:nvSpPr>
        <p:spPr>
          <a:xfrm>
            <a:off x="7251192" y="21945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55% – 75%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635240" y="2615184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360920" y="2724912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"better than an average set shot"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358444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SITUATION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378561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24 - 38 m out, in front, little pressure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35240" y="4773168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360920" y="48463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shots average 55.0% across all distances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500616" y="1572768"/>
            <a:ext cx="2157984" cy="3822192"/>
          </a:xfrm>
          <a:prstGeom prst="roundRect">
            <a:avLst>
              <a:gd name="adj" fmla="val 2119"/>
            </a:avLst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500616" y="173736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2300" dirty="0"/>
          </a:p>
        </p:txBody>
      </p:sp>
      <p:sp>
        <p:nvSpPr>
          <p:cNvPr id="42" name="Text 40"/>
          <p:cNvSpPr txBox="1"/>
          <p:nvPr/>
        </p:nvSpPr>
        <p:spPr>
          <a:xfrm>
            <a:off x="9500616" y="219456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9884664" y="2615184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610344" y="2724912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have goaled"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610344" y="358444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SITUATION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610344" y="3785616"/>
            <a:ext cx="1938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24 m, in front, little pressure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84664" y="4773168"/>
            <a:ext cx="1389888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9610344" y="48463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shots from 15 - 30 m convert at 77.5%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55961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assume an unpressured set shot directly in front. Angle and pressure move a play down a band at the same distance.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59253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are upper-inclusive: a score of exactly 35% is Low, never Moderate. The intervals partition the whole output range, so every score falls in exactly one band on any dataset.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21792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conversion rates from Anderson, Breed, Spittle &amp; Larkin (2018), 4,599 AFL set shots.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Dangerousity bands across the 102 plays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set-shot conversion rates, not equal intervals. Bands narrow towards the top because danger is concentrated.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2157984" cy="1481328"/>
          </a:xfrm>
          <a:prstGeom prst="roundRect">
            <a:avLst>
              <a:gd name="adj" fmla="val 3086"/>
            </a:avLst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517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942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scoring opportunity"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260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of 102 plays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2344" y="1389888"/>
            <a:ext cx="2157984" cy="1481328"/>
          </a:xfrm>
          <a:prstGeom prst="roundRect">
            <a:avLst>
              <a:gd name="adj" fmla="val 3086"/>
            </a:avLst>
          </a:prstGeom>
          <a:solidFill>
            <a:srgbClr val="0097A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52344" y="1517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– 35%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43784" y="224942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chance only if something breaks"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29260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of 102 plays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01768" y="1389888"/>
            <a:ext cx="2157984" cy="1481328"/>
          </a:xfrm>
          <a:prstGeom prst="roundRect">
            <a:avLst>
              <a:gd name="adj" fmla="val 3086"/>
            </a:avLst>
          </a:prstGeom>
          <a:solidFill>
            <a:srgbClr val="F9A82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01768" y="1517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35% – 55%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24942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genuine chance, not a likely goal"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01768" y="29260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102 plays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51192" y="1389888"/>
            <a:ext cx="2157984" cy="1481328"/>
          </a:xfrm>
          <a:prstGeom prst="roundRect">
            <a:avLst>
              <a:gd name="adj" fmla="val 3086"/>
            </a:avLst>
          </a:prstGeom>
          <a:solidFill>
            <a:srgbClr val="EF6C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51192" y="1517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55% – 75%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224942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"better than an average set shot"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51192" y="29260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102 plays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00616" y="1389888"/>
            <a:ext cx="2157984" cy="1481328"/>
          </a:xfrm>
          <a:prstGeom prst="roundRect">
            <a:avLst>
              <a:gd name="adj" fmla="val 3086"/>
            </a:avLst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500616" y="1517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500616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92056" y="224942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have goaled"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00616" y="29260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102 plays</a:t>
            </a:r>
            <a:endParaRPr lang="en-US" sz="1150" dirty="0"/>
          </a:p>
        </p:txBody>
      </p:sp>
      <p:pic>
        <p:nvPicPr>
          <p:cNvPr id="29" name="Image 0" descr="da_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01568"/>
            <a:ext cx="8610935" cy="211341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02920" y="5413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of 102 plays fall in the bottom two bands. Eleven sit above the mean set-shot conversion rate.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5742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are upper-inclusive: a score of exactly 35% is Low, never Moderate. The intervals partition the whole output range, so every score falls in exactly one band on any dataset.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60350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conversion rates from Anderson, Breed, Spittle &amp; Larkin (2018), 4,599 AFL set shots.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aee26d8-97c2-4fad-8900-96735f6dc73f}" enabled="0" method="" siteId="{9aee26d8-97c2-4fad-8900-96735f6dc7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765</Words>
  <Application>Microsoft Macintosh PowerPoint</Application>
  <PresentationFormat>Widescreen</PresentationFormat>
  <Paragraphs>90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SBRISSA</dc:creator>
  <cp:lastModifiedBy>JACKSON SBRISSA</cp:lastModifiedBy>
  <cp:revision>1</cp:revision>
  <dcterms:created xsi:type="dcterms:W3CDTF">2026-09-03T00:21:18Z</dcterms:created>
  <dcterms:modified xsi:type="dcterms:W3CDTF">2026-09-03T04:49:13Z</dcterms:modified>
</cp:coreProperties>
</file>